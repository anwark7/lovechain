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A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195560" y="457200"/>
            <a:ext cx="1417320" cy="384048"/>
          </a:xfrm>
          <a:prstGeom prst="roundRect">
            <a:avLst>
              <a:gd name="adj" fmla="val 50000"/>
            </a:avLst>
          </a:prstGeom>
          <a:solidFill>
            <a:srgbClr val="161428"/>
          </a:solidFill>
          <a:ln w="12700">
            <a:solidFill>
              <a:srgbClr val="5EEA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 i="0">
                <a:solidFill>
                  <a:srgbClr val="5EEAD4"/>
                </a:solidFill>
                <a:latin typeface="Consolas"/>
              </a:rPr>
              <a:t>● TESTNET</a:t>
            </a:r>
          </a:p>
        </p:txBody>
      </p:sp>
      <p:sp>
        <p:nvSpPr>
          <p:cNvPr id="4" name="Oval 3"/>
          <p:cNvSpPr/>
          <p:nvPr/>
        </p:nvSpPr>
        <p:spPr>
          <a:xfrm>
            <a:off x="5641848" y="1417320"/>
            <a:ext cx="914400" cy="914400"/>
          </a:xfrm>
          <a:prstGeom prst="ellipse">
            <a:avLst/>
          </a:prstGeom>
          <a:solidFill>
            <a:srgbClr val="12111F"/>
          </a:solidFill>
          <a:ln w="12700">
            <a:solidFill>
              <a:srgbClr val="5EEA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800" b="0" i="0">
                <a:solidFill>
                  <a:srgbClr val="F4F2FB"/>
                </a:solidFill>
                <a:latin typeface="Segoe UI"/>
              </a:rPr>
              <a:t>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514600"/>
            <a:ext cx="10360152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600" b="1" i="0">
                <a:solidFill>
                  <a:srgbClr val="F4F2FB"/>
                </a:solidFill>
                <a:latin typeface="Georgia"/>
              </a:rPr>
              <a:t>LOVE</a:t>
            </a:r>
            <a:r>
              <a:rPr sz="6600" b="1" i="0">
                <a:solidFill>
                  <a:srgbClr val="B794FF"/>
                </a:solidFill>
                <a:latin typeface="Georgia"/>
              </a:rPr>
              <a:t>CHAIN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794760"/>
            <a:ext cx="103601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 i="1">
                <a:solidFill>
                  <a:srgbClr val="CBC8DD"/>
                </a:solidFill>
                <a:latin typeface="Georgia"/>
              </a:rPr>
              <a:t>Don't just say forever. Stake it on-chain.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434840"/>
            <a:ext cx="103601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0" i="0">
                <a:solidFill>
                  <a:srgbClr val="9A97B0"/>
                </a:solidFill>
                <a:latin typeface="Segoe UI"/>
              </a:rPr>
              <a:t>Relationship commitment escrow — powered by smart contracts.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59893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 i="0">
                <a:solidFill>
                  <a:srgbClr val="6B6880"/>
                </a:solidFill>
                <a:latin typeface="Consolas"/>
              </a:rPr>
              <a:t>LoveChain.sol · deployed on </a:t>
            </a:r>
            <a:r>
              <a:rPr sz="1100" b="1" i="0">
                <a:solidFill>
                  <a:srgbClr val="A78BFA"/>
                </a:solidFill>
                <a:latin typeface="Consolas"/>
              </a:rPr>
              <a:t>OP Sepolia</a:t>
            </a:r>
            <a:r>
              <a:rPr sz="1100" b="0" i="0">
                <a:solidFill>
                  <a:srgbClr val="6B6880"/>
                </a:solidFill>
                <a:latin typeface="Consolas"/>
              </a:rPr>
              <a:t> (EVM testnet)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63550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6B6880"/>
                </a:solidFill>
                <a:latin typeface="Consolas"/>
              </a:rPr>
              <a:t>01 / 09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A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A78BFA"/>
                </a:solidFill>
                <a:latin typeface="Consolas"/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 i="0">
                <a:solidFill>
                  <a:srgbClr val="E9E7F2"/>
                </a:solidFill>
                <a:latin typeface="Georgia"/>
              </a:rPr>
              <a:t>Komitmen cuma janji. Sampai putus.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783080"/>
            <a:ext cx="10817352" cy="914400"/>
          </a:xfrm>
          <a:prstGeom prst="roundRect">
            <a:avLst>
              <a:gd name="adj" fmla="val 6000"/>
            </a:avLst>
          </a:prstGeom>
          <a:solidFill>
            <a:srgbClr val="23141C"/>
          </a:solidFill>
          <a:ln w="12700">
            <a:solidFill>
              <a:srgbClr val="5A2B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/>
          <a:lstStyle/>
          <a:p>
            <a:pPr algn="ctr"/>
            <a:r>
              <a:rPr sz="1350" b="0" i="0">
                <a:solidFill>
                  <a:srgbClr val="F3D9DE"/>
                </a:solidFill>
                <a:latin typeface="Segoe UI"/>
              </a:rPr>
              <a:t>Kenali </a:t>
            </a:r>
            <a:r>
              <a:rPr sz="1350" b="1" i="0">
                <a:solidFill>
                  <a:srgbClr val="FFD9DF"/>
                </a:solidFill>
                <a:latin typeface="Segoe UI"/>
              </a:rPr>
              <a:t>Dinda</a:t>
            </a:r>
            <a:r>
              <a:rPr sz="1350" b="0" i="0">
                <a:solidFill>
                  <a:srgbClr val="F3D9DE"/>
                </a:solidFill>
                <a:latin typeface="Segoe UI"/>
              </a:rPr>
              <a:t> — dua tahun LDR, sudah bahas nikah, bahkan patungan nabung. Pasangannya ghosting: hilang, dana patungan dibawa, tanpa penjelasan. Tidak ada mekanisme netral untuk menagih kejelasan — atau dananya.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2880360"/>
            <a:ext cx="3465576" cy="2331720"/>
          </a:xfrm>
          <a:prstGeom prst="roundRect">
            <a:avLst>
              <a:gd name="adj" fmla="val 6000"/>
            </a:avLst>
          </a:prstGeom>
          <a:solidFill>
            <a:srgbClr val="161428"/>
          </a:solidFill>
          <a:ln w="12700">
            <a:solidFill>
              <a:srgbClr val="2A27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28600" rIns="228600"/>
          <a:lstStyle/>
          <a:p>
            <a:pPr algn="l">
              <a:spcAft>
                <a:spcPts val="800"/>
              </a:spcAft>
            </a:pPr>
            <a:r>
              <a:rPr sz="2200" b="0" i="0">
                <a:solidFill>
                  <a:srgbClr val="E9E7F2"/>
                </a:solidFill>
                <a:latin typeface="Segoe UI"/>
              </a:rPr>
              <a:t>💔</a:t>
            </a:r>
          </a:p>
          <a:p>
            <a:pPr algn="l">
              <a:spcAft>
                <a:spcPts val="800"/>
              </a:spcAft>
            </a:pPr>
            <a:r>
              <a:rPr sz="1900" b="1" i="0">
                <a:solidFill>
                  <a:srgbClr val="E9E7F2"/>
                </a:solidFill>
                <a:latin typeface="Georgia"/>
              </a:rPr>
              <a:t>Putus sepihak.</a:t>
            </a:r>
          </a:p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9A97B0"/>
                </a:solidFill>
                <a:latin typeface="Segoe UI"/>
              </a:rPr>
              <a:t>Satu pihak pergi. Yang lain ditinggal tanpa konsekuensi, tanpa penjelasan.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70248" y="2880360"/>
            <a:ext cx="3465576" cy="2331720"/>
          </a:xfrm>
          <a:prstGeom prst="roundRect">
            <a:avLst>
              <a:gd name="adj" fmla="val 6000"/>
            </a:avLst>
          </a:prstGeom>
          <a:solidFill>
            <a:srgbClr val="161428"/>
          </a:solidFill>
          <a:ln w="12700">
            <a:solidFill>
              <a:srgbClr val="2A27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28600" rIns="228600"/>
          <a:lstStyle/>
          <a:p>
            <a:pPr algn="l">
              <a:spcAft>
                <a:spcPts val="800"/>
              </a:spcAft>
            </a:pPr>
            <a:r>
              <a:rPr sz="2200" b="0" i="0">
                <a:solidFill>
                  <a:srgbClr val="E9E7F2"/>
                </a:solidFill>
                <a:latin typeface="Segoe UI"/>
              </a:rPr>
              <a:t>👻</a:t>
            </a:r>
          </a:p>
          <a:p>
            <a:pPr algn="l">
              <a:spcAft>
                <a:spcPts val="800"/>
              </a:spcAft>
            </a:pPr>
            <a:r>
              <a:rPr sz="1900" b="1" i="0">
                <a:solidFill>
                  <a:srgbClr val="E9E7F2"/>
                </a:solidFill>
                <a:latin typeface="Georgia"/>
              </a:rPr>
              <a:t>Ghosting.</a:t>
            </a:r>
          </a:p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9A97B0"/>
                </a:solidFill>
                <a:latin typeface="Segoe UI"/>
              </a:rPr>
              <a:t>Hilang tanpa kabar. Tidak ada mekanisme netral untuk menagih kejelasan.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54696" y="2880360"/>
            <a:ext cx="3465576" cy="2331720"/>
          </a:xfrm>
          <a:prstGeom prst="roundRect">
            <a:avLst>
              <a:gd name="adj" fmla="val 6000"/>
            </a:avLst>
          </a:prstGeom>
          <a:solidFill>
            <a:srgbClr val="161428"/>
          </a:solidFill>
          <a:ln w="12700">
            <a:solidFill>
              <a:srgbClr val="2A27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28600" rIns="228600"/>
          <a:lstStyle/>
          <a:p>
            <a:pPr algn="l">
              <a:spcAft>
                <a:spcPts val="800"/>
              </a:spcAft>
            </a:pPr>
            <a:r>
              <a:rPr sz="2200" b="0" i="0">
                <a:solidFill>
                  <a:srgbClr val="E9E7F2"/>
                </a:solidFill>
                <a:latin typeface="Segoe UI"/>
              </a:rPr>
              <a:t>⚖️</a:t>
            </a:r>
          </a:p>
          <a:p>
            <a:pPr algn="l">
              <a:spcAft>
                <a:spcPts val="800"/>
              </a:spcAft>
            </a:pPr>
            <a:r>
              <a:rPr sz="1900" b="1" i="0">
                <a:solidFill>
                  <a:srgbClr val="E9E7F2"/>
                </a:solidFill>
                <a:latin typeface="Georgia"/>
              </a:rPr>
              <a:t>Tidak ada bukti.</a:t>
            </a:r>
          </a:p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9A97B0"/>
                </a:solidFill>
                <a:latin typeface="Segoe UI"/>
              </a:rPr>
              <a:t>Komitmen berbasis ucapan. Tidak terukur, tidak tercatat, tidak bisa diaudit.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5532120"/>
            <a:ext cx="10817352" cy="658368"/>
          </a:xfrm>
          <a:prstGeom prst="roundRect">
            <a:avLst>
              <a:gd name="adj" fmla="val 6000"/>
            </a:avLst>
          </a:prstGeom>
          <a:solidFill>
            <a:srgbClr val="121120"/>
          </a:solidFill>
          <a:ln w="12700">
            <a:solidFill>
              <a:srgbClr val="2A27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/>
          <a:lstStyle/>
          <a:p>
            <a:pPr algn="ctr"/>
            <a:r>
              <a:rPr sz="1500" b="1" i="0">
                <a:solidFill>
                  <a:srgbClr val="E9E7F2"/>
                </a:solidFill>
                <a:latin typeface="Segoe UI"/>
              </a:rPr>
              <a:t>Perasaan bisa berubah. </a:t>
            </a:r>
            <a:r>
              <a:rPr sz="1500" b="0" i="1">
                <a:solidFill>
                  <a:srgbClr val="B794FF"/>
                </a:solidFill>
                <a:latin typeface="Segoe UI"/>
              </a:rPr>
              <a:t>· Smart contract tidak.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63550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6B6880"/>
                </a:solidFill>
                <a:latin typeface="Consolas"/>
              </a:rPr>
              <a:t>02 / 09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A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A78BFA"/>
                </a:solidFill>
                <a:latin typeface="Consolas"/>
              </a:rPr>
              <a:t>THE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 i="0">
                <a:solidFill>
                  <a:srgbClr val="E9E7F2"/>
                </a:solidFill>
                <a:latin typeface="Georgia"/>
              </a:rPr>
              <a:t>Satu escrow. Lima lapis pembuktian.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783080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50" b="0" i="0">
                <a:solidFill>
                  <a:srgbClr val="9A97B0"/>
                </a:solidFill>
                <a:latin typeface="Segoe UI"/>
              </a:rPr>
              <a:t>Bukan mendeteksi cinta otomatis — memvalidasi komitmen lewat proof stack.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2468880"/>
            <a:ext cx="2075688" cy="3108960"/>
          </a:xfrm>
          <a:prstGeom prst="roundRect">
            <a:avLst>
              <a:gd name="adj" fmla="val 6000"/>
            </a:avLst>
          </a:prstGeom>
          <a:solidFill>
            <a:srgbClr val="161428"/>
          </a:solidFill>
          <a:ln w="12700">
            <a:solidFill>
              <a:srgbClr val="2A27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256032" rIns="164592"/>
          <a:lstStyle/>
          <a:p>
            <a:pPr algn="ctr">
              <a:spcAft>
                <a:spcPts val="600"/>
              </a:spcAft>
            </a:pPr>
            <a:r>
              <a:rPr sz="1200" b="0" i="0">
                <a:solidFill>
                  <a:srgbClr val="B794FF"/>
                </a:solidFill>
                <a:latin typeface="Consolas"/>
              </a:rPr>
              <a:t>01</a:t>
            </a:r>
          </a:p>
          <a:p>
            <a:pPr algn="ctr">
              <a:spcAft>
                <a:spcPts val="800"/>
              </a:spcAft>
            </a:pPr>
            <a:r>
              <a:rPr sz="2200" b="0" i="0">
                <a:solidFill>
                  <a:srgbClr val="E9E7F2"/>
                </a:solidFill>
                <a:latin typeface="Segoe UI"/>
              </a:rPr>
              <a:t>🤝</a:t>
            </a:r>
          </a:p>
          <a:p>
            <a:pPr algn="ctr">
              <a:spcAft>
                <a:spcPts val="800"/>
              </a:spcAft>
            </a:pPr>
            <a:r>
              <a:rPr sz="1500" b="1" i="0">
                <a:solidFill>
                  <a:srgbClr val="E9E7F2"/>
                </a:solidFill>
                <a:latin typeface="Georgia"/>
              </a:rPr>
              <a:t>Mutual Confirmation</a:t>
            </a:r>
          </a:p>
          <a:p>
            <a:pPr algn="ctr">
              <a:spcAft>
                <a:spcPts val="600"/>
              </a:spcAft>
            </a:pPr>
            <a:r>
              <a:rPr sz="1200" b="0" i="0">
                <a:solidFill>
                  <a:srgbClr val="9A97B0"/>
                </a:solidFill>
                <a:latin typeface="Segoe UI"/>
              </a:rPr>
              <a:t>Aksi valid jika kedua pihak menyetujui.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71216" y="2468880"/>
            <a:ext cx="2075688" cy="3108960"/>
          </a:xfrm>
          <a:prstGeom prst="roundRect">
            <a:avLst>
              <a:gd name="adj" fmla="val 6000"/>
            </a:avLst>
          </a:prstGeom>
          <a:solidFill>
            <a:srgbClr val="161428"/>
          </a:solidFill>
          <a:ln w="12700">
            <a:solidFill>
              <a:srgbClr val="2A27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256032" rIns="164592"/>
          <a:lstStyle/>
          <a:p>
            <a:pPr algn="ctr">
              <a:spcAft>
                <a:spcPts val="600"/>
              </a:spcAft>
            </a:pPr>
            <a:r>
              <a:rPr sz="1200" b="0" i="0">
                <a:solidFill>
                  <a:srgbClr val="B794FF"/>
                </a:solidFill>
                <a:latin typeface="Consolas"/>
              </a:rPr>
              <a:t>02</a:t>
            </a:r>
          </a:p>
          <a:p>
            <a:pPr algn="ctr">
              <a:spcAft>
                <a:spcPts val="800"/>
              </a:spcAft>
            </a:pPr>
            <a:r>
              <a:rPr sz="2200" b="0" i="0">
                <a:solidFill>
                  <a:srgbClr val="E9E7F2"/>
                </a:solidFill>
                <a:latin typeface="Segoe UI"/>
              </a:rPr>
              <a:t>⏳</a:t>
            </a:r>
          </a:p>
          <a:p>
            <a:pPr algn="ctr">
              <a:spcAft>
                <a:spcPts val="800"/>
              </a:spcAft>
            </a:pPr>
            <a:r>
              <a:rPr sz="1500" b="1" i="0">
                <a:solidFill>
                  <a:srgbClr val="E9E7F2"/>
                </a:solidFill>
                <a:latin typeface="Georgia"/>
              </a:rPr>
              <a:t>Cooling Period</a:t>
            </a:r>
          </a:p>
          <a:p>
            <a:pPr algn="ctr">
              <a:spcAft>
                <a:spcPts val="600"/>
              </a:spcAft>
            </a:pPr>
            <a:r>
              <a:rPr sz="1200" b="0" i="0">
                <a:solidFill>
                  <a:srgbClr val="9A97B0"/>
                </a:solidFill>
                <a:latin typeface="Segoe UI"/>
              </a:rPr>
              <a:t>Jeda waktu sebelum dana benar-benar cair.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56632" y="2468880"/>
            <a:ext cx="2075688" cy="3108960"/>
          </a:xfrm>
          <a:prstGeom prst="roundRect">
            <a:avLst>
              <a:gd name="adj" fmla="val 6000"/>
            </a:avLst>
          </a:prstGeom>
          <a:solidFill>
            <a:srgbClr val="161428"/>
          </a:solidFill>
          <a:ln w="12700">
            <a:solidFill>
              <a:srgbClr val="2A27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256032" rIns="164592"/>
          <a:lstStyle/>
          <a:p>
            <a:pPr algn="ctr">
              <a:spcAft>
                <a:spcPts val="600"/>
              </a:spcAft>
            </a:pPr>
            <a:r>
              <a:rPr sz="1200" b="0" i="0">
                <a:solidFill>
                  <a:srgbClr val="B794FF"/>
                </a:solidFill>
                <a:latin typeface="Consolas"/>
              </a:rPr>
              <a:t>03</a:t>
            </a:r>
          </a:p>
          <a:p>
            <a:pPr algn="ctr">
              <a:spcAft>
                <a:spcPts val="800"/>
              </a:spcAft>
            </a:pPr>
            <a:r>
              <a:rPr sz="2200" b="0" i="0">
                <a:solidFill>
                  <a:srgbClr val="E9E7F2"/>
                </a:solidFill>
                <a:latin typeface="Segoe UI"/>
              </a:rPr>
              <a:t>🔏</a:t>
            </a:r>
          </a:p>
          <a:p>
            <a:pPr algn="ctr">
              <a:spcAft>
                <a:spcPts val="800"/>
              </a:spcAft>
            </a:pPr>
            <a:r>
              <a:rPr sz="1500" b="1" i="0">
                <a:solidFill>
                  <a:srgbClr val="E9E7F2"/>
                </a:solidFill>
                <a:latin typeface="Georgia"/>
              </a:rPr>
              <a:t>Evidence Hash</a:t>
            </a:r>
          </a:p>
          <a:p>
            <a:pPr algn="ctr">
              <a:spcAft>
                <a:spcPts val="600"/>
              </a:spcAft>
            </a:pPr>
            <a:r>
              <a:rPr sz="1200" b="0" i="0">
                <a:solidFill>
                  <a:srgbClr val="9A97B0"/>
                </a:solidFill>
                <a:latin typeface="Segoe UI"/>
              </a:rPr>
              <a:t>Bukti off-chain, hash / IPFS on-chain.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42048" y="2468880"/>
            <a:ext cx="2075688" cy="3108960"/>
          </a:xfrm>
          <a:prstGeom prst="roundRect">
            <a:avLst>
              <a:gd name="adj" fmla="val 6000"/>
            </a:avLst>
          </a:prstGeom>
          <a:solidFill>
            <a:srgbClr val="161428"/>
          </a:solidFill>
          <a:ln w="12700">
            <a:solidFill>
              <a:srgbClr val="2A27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256032" rIns="164592"/>
          <a:lstStyle/>
          <a:p>
            <a:pPr algn="ctr">
              <a:spcAft>
                <a:spcPts val="600"/>
              </a:spcAft>
            </a:pPr>
            <a:r>
              <a:rPr sz="1200" b="0" i="0">
                <a:solidFill>
                  <a:srgbClr val="B794FF"/>
                </a:solidFill>
                <a:latin typeface="Consolas"/>
              </a:rPr>
              <a:t>04</a:t>
            </a:r>
          </a:p>
          <a:p>
            <a:pPr algn="ctr">
              <a:spcAft>
                <a:spcPts val="800"/>
              </a:spcAft>
            </a:pPr>
            <a:r>
              <a:rPr sz="2200" b="0" i="0">
                <a:solidFill>
                  <a:srgbClr val="E9E7F2"/>
                </a:solidFill>
                <a:latin typeface="Segoe UI"/>
              </a:rPr>
              <a:t>🪙</a:t>
            </a:r>
          </a:p>
          <a:p>
            <a:pPr algn="ctr">
              <a:spcAft>
                <a:spcPts val="800"/>
              </a:spcAft>
            </a:pPr>
            <a:r>
              <a:rPr sz="1500" b="1" i="0">
                <a:solidFill>
                  <a:srgbClr val="E9E7F2"/>
                </a:solidFill>
                <a:latin typeface="Georgia"/>
              </a:rPr>
              <a:t>Challenge Bond</a:t>
            </a:r>
          </a:p>
          <a:p>
            <a:pPr algn="ctr">
              <a:spcAft>
                <a:spcPts val="600"/>
              </a:spcAft>
            </a:pPr>
            <a:r>
              <a:rPr sz="1200" b="0" i="0">
                <a:solidFill>
                  <a:srgbClr val="9A97B0"/>
                </a:solidFill>
                <a:latin typeface="Segoe UI"/>
              </a:rPr>
              <a:t>Penuduh setor bond agar tak asal menuduh.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427464" y="2468880"/>
            <a:ext cx="2075688" cy="3108960"/>
          </a:xfrm>
          <a:prstGeom prst="roundRect">
            <a:avLst>
              <a:gd name="adj" fmla="val 6000"/>
            </a:avLst>
          </a:prstGeom>
          <a:solidFill>
            <a:srgbClr val="161428"/>
          </a:solidFill>
          <a:ln w="12700">
            <a:solidFill>
              <a:srgbClr val="2A27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256032" rIns="164592"/>
          <a:lstStyle/>
          <a:p>
            <a:pPr algn="ctr">
              <a:spcAft>
                <a:spcPts val="600"/>
              </a:spcAft>
            </a:pPr>
            <a:r>
              <a:rPr sz="1200" b="0" i="0">
                <a:solidFill>
                  <a:srgbClr val="B794FF"/>
                </a:solidFill>
                <a:latin typeface="Consolas"/>
              </a:rPr>
              <a:t>05</a:t>
            </a:r>
          </a:p>
          <a:p>
            <a:pPr algn="ctr">
              <a:spcAft>
                <a:spcPts val="800"/>
              </a:spcAft>
            </a:pPr>
            <a:r>
              <a:rPr sz="2200" b="0" i="0">
                <a:solidFill>
                  <a:srgbClr val="E9E7F2"/>
                </a:solidFill>
                <a:latin typeface="Segoe UI"/>
              </a:rPr>
              <a:t>👥</a:t>
            </a:r>
          </a:p>
          <a:p>
            <a:pPr algn="ctr">
              <a:spcAft>
                <a:spcPts val="800"/>
              </a:spcAft>
            </a:pPr>
            <a:r>
              <a:rPr sz="1500" b="1" i="0">
                <a:solidFill>
                  <a:srgbClr val="E9E7F2"/>
                </a:solidFill>
                <a:latin typeface="Georgia"/>
              </a:rPr>
              <a:t>Witness Voting</a:t>
            </a:r>
          </a:p>
          <a:p>
            <a:pPr algn="ctr">
              <a:spcAft>
                <a:spcPts val="600"/>
              </a:spcAft>
            </a:pPr>
            <a:r>
              <a:rPr sz="1200" b="0" i="0">
                <a:solidFill>
                  <a:srgbClr val="9A97B0"/>
                </a:solidFill>
                <a:latin typeface="Segoe UI"/>
              </a:rPr>
              <a:t>Saksi terpilih vote menentukan validitas.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63550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6B6880"/>
                </a:solidFill>
                <a:latin typeface="Consolas"/>
              </a:rPr>
              <a:t>03 / 09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A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A78BFA"/>
                </a:solidFill>
                <a:latin typeface="Consolas"/>
              </a:rPr>
              <a:t>HOW IT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 i="0">
                <a:solidFill>
                  <a:srgbClr val="E9E7F2"/>
                </a:solidFill>
                <a:latin typeface="Georgia"/>
              </a:rPr>
              <a:t>Kunci dana. Cairkan lewat aturan.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148840"/>
            <a:ext cx="2075688" cy="3063240"/>
          </a:xfrm>
          <a:prstGeom prst="roundRect">
            <a:avLst>
              <a:gd name="adj" fmla="val 6000"/>
            </a:avLst>
          </a:prstGeom>
          <a:solidFill>
            <a:srgbClr val="161428"/>
          </a:solidFill>
          <a:ln w="12700">
            <a:solidFill>
              <a:srgbClr val="2A27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237744" rIns="182880"/>
          <a:lstStyle/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B794FF"/>
                </a:solidFill>
                <a:latin typeface="Consolas"/>
              </a:rPr>
              <a:t>01</a:t>
            </a:r>
          </a:p>
          <a:p>
            <a:pPr algn="l">
              <a:spcAft>
                <a:spcPts val="800"/>
              </a:spcAft>
            </a:pPr>
            <a:r>
              <a:rPr sz="2200" b="0" i="0">
                <a:solidFill>
                  <a:srgbClr val="E9E7F2"/>
                </a:solidFill>
                <a:latin typeface="Segoe UI"/>
              </a:rPr>
              <a:t>💬</a:t>
            </a:r>
          </a:p>
          <a:p>
            <a:pPr algn="l">
              <a:spcAft>
                <a:spcPts val="800"/>
              </a:spcAft>
            </a:pPr>
            <a:r>
              <a:rPr sz="1800" b="1" i="0">
                <a:solidFill>
                  <a:srgbClr val="E9E7F2"/>
                </a:solidFill>
                <a:latin typeface="Georgia"/>
              </a:rPr>
              <a:t>Create.</a:t>
            </a:r>
          </a:p>
          <a:p>
            <a:pPr algn="l">
              <a:spcAft>
                <a:spcPts val="600"/>
              </a:spcAft>
            </a:pPr>
            <a:r>
              <a:rPr sz="1250" b="0" i="0">
                <a:solidFill>
                  <a:srgbClr val="9A97B0"/>
                </a:solidFill>
                <a:latin typeface="Segoe UI"/>
              </a:rPr>
              <a:t>User A susun kontrak: durasi, deposit, witness, aturan.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871216" y="2148840"/>
            <a:ext cx="2075688" cy="3063240"/>
          </a:xfrm>
          <a:prstGeom prst="roundRect">
            <a:avLst>
              <a:gd name="adj" fmla="val 6000"/>
            </a:avLst>
          </a:prstGeom>
          <a:solidFill>
            <a:srgbClr val="161428"/>
          </a:solidFill>
          <a:ln w="12700">
            <a:solidFill>
              <a:srgbClr val="2A27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237744" rIns="182880"/>
          <a:lstStyle/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B794FF"/>
                </a:solidFill>
                <a:latin typeface="Consolas"/>
              </a:rPr>
              <a:t>02</a:t>
            </a:r>
          </a:p>
          <a:p>
            <a:pPr algn="l">
              <a:spcAft>
                <a:spcPts val="800"/>
              </a:spcAft>
            </a:pPr>
            <a:r>
              <a:rPr sz="2200" b="0" i="0">
                <a:solidFill>
                  <a:srgbClr val="E9E7F2"/>
                </a:solidFill>
                <a:latin typeface="Segoe UI"/>
              </a:rPr>
              <a:t>🤝</a:t>
            </a:r>
          </a:p>
          <a:p>
            <a:pPr algn="l">
              <a:spcAft>
                <a:spcPts val="800"/>
              </a:spcAft>
            </a:pPr>
            <a:r>
              <a:rPr sz="1800" b="1" i="0">
                <a:solidFill>
                  <a:srgbClr val="E9E7F2"/>
                </a:solidFill>
                <a:latin typeface="Georgia"/>
              </a:rPr>
              <a:t>Accept.</a:t>
            </a:r>
          </a:p>
          <a:p>
            <a:pPr algn="l">
              <a:spcAft>
                <a:spcPts val="600"/>
              </a:spcAft>
            </a:pPr>
            <a:r>
              <a:rPr sz="1250" b="0" i="0">
                <a:solidFill>
                  <a:srgbClr val="9A97B0"/>
                </a:solidFill>
                <a:latin typeface="Segoe UI"/>
              </a:rPr>
              <a:t>User B setujui &amp; deposit. Kontrak jadi aktif.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56632" y="2148840"/>
            <a:ext cx="2075688" cy="3063240"/>
          </a:xfrm>
          <a:prstGeom prst="roundRect">
            <a:avLst>
              <a:gd name="adj" fmla="val 6000"/>
            </a:avLst>
          </a:prstGeom>
          <a:solidFill>
            <a:srgbClr val="161428"/>
          </a:solidFill>
          <a:ln w="12700">
            <a:solidFill>
              <a:srgbClr val="2A27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237744" rIns="182880"/>
          <a:lstStyle/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B794FF"/>
                </a:solidFill>
                <a:latin typeface="Consolas"/>
              </a:rPr>
              <a:t>03</a:t>
            </a:r>
          </a:p>
          <a:p>
            <a:pPr algn="l">
              <a:spcAft>
                <a:spcPts val="800"/>
              </a:spcAft>
            </a:pPr>
            <a:r>
              <a:rPr sz="2200" b="0" i="0">
                <a:solidFill>
                  <a:srgbClr val="E9E7F2"/>
                </a:solidFill>
                <a:latin typeface="Segoe UI"/>
              </a:rPr>
              <a:t>🔒</a:t>
            </a:r>
          </a:p>
          <a:p>
            <a:pPr algn="l">
              <a:spcAft>
                <a:spcPts val="800"/>
              </a:spcAft>
            </a:pPr>
            <a:r>
              <a:rPr sz="1800" b="1" i="0">
                <a:solidFill>
                  <a:srgbClr val="E9E7F2"/>
                </a:solidFill>
                <a:latin typeface="Georgia"/>
              </a:rPr>
              <a:t>Lock.</a:t>
            </a:r>
          </a:p>
          <a:p>
            <a:pPr algn="l">
              <a:spcAft>
                <a:spcPts val="600"/>
              </a:spcAft>
            </a:pPr>
            <a:r>
              <a:rPr sz="1250" b="0" i="0">
                <a:solidFill>
                  <a:srgbClr val="9A97B0"/>
                </a:solidFill>
                <a:latin typeface="Segoe UI"/>
              </a:rPr>
              <a:t>Dana kedua pihak terkunci di smart contract.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42048" y="2148840"/>
            <a:ext cx="2075688" cy="3063240"/>
          </a:xfrm>
          <a:prstGeom prst="roundRect">
            <a:avLst>
              <a:gd name="adj" fmla="val 6000"/>
            </a:avLst>
          </a:prstGeom>
          <a:solidFill>
            <a:srgbClr val="161428"/>
          </a:solidFill>
          <a:ln w="12700">
            <a:solidFill>
              <a:srgbClr val="2A27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237744" rIns="182880"/>
          <a:lstStyle/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B794FF"/>
                </a:solidFill>
                <a:latin typeface="Consolas"/>
              </a:rPr>
              <a:t>04</a:t>
            </a:r>
          </a:p>
          <a:p>
            <a:pPr algn="l">
              <a:spcAft>
                <a:spcPts val="800"/>
              </a:spcAft>
            </a:pPr>
            <a:r>
              <a:rPr sz="2200" b="0" i="0">
                <a:solidFill>
                  <a:srgbClr val="E9E7F2"/>
                </a:solidFill>
                <a:latin typeface="Segoe UI"/>
              </a:rPr>
              <a:t>🔏</a:t>
            </a:r>
          </a:p>
          <a:p>
            <a:pPr algn="l">
              <a:spcAft>
                <a:spcPts val="800"/>
              </a:spcAft>
            </a:pPr>
            <a:r>
              <a:rPr sz="1800" b="1" i="0">
                <a:solidFill>
                  <a:srgbClr val="E9E7F2"/>
                </a:solidFill>
                <a:latin typeface="Georgia"/>
              </a:rPr>
              <a:t>Prove.</a:t>
            </a:r>
          </a:p>
          <a:p>
            <a:pPr algn="l">
              <a:spcAft>
                <a:spcPts val="600"/>
              </a:spcAft>
            </a:pPr>
            <a:r>
              <a:rPr sz="1250" b="0" i="0">
                <a:solidFill>
                  <a:srgbClr val="9A97B0"/>
                </a:solidFill>
                <a:latin typeface="Segoe UI"/>
              </a:rPr>
              <a:t>Ajukan outcome + bukti. Witness / partner konfirmasi.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427464" y="2148840"/>
            <a:ext cx="2075688" cy="3063240"/>
          </a:xfrm>
          <a:prstGeom prst="roundRect">
            <a:avLst>
              <a:gd name="adj" fmla="val 6000"/>
            </a:avLst>
          </a:prstGeom>
          <a:solidFill>
            <a:srgbClr val="10221E"/>
          </a:solidFill>
          <a:ln w="12700">
            <a:solidFill>
              <a:srgbClr val="2C5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237744" rIns="182880"/>
          <a:lstStyle/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6EE7B7"/>
                </a:solidFill>
                <a:latin typeface="Consolas"/>
              </a:rPr>
              <a:t>05</a:t>
            </a:r>
          </a:p>
          <a:p>
            <a:pPr algn="l">
              <a:spcAft>
                <a:spcPts val="800"/>
              </a:spcAft>
            </a:pPr>
            <a:r>
              <a:rPr sz="2200" b="0" i="0">
                <a:solidFill>
                  <a:srgbClr val="E9E7F2"/>
                </a:solidFill>
                <a:latin typeface="Segoe UI"/>
              </a:rPr>
              <a:t>✅</a:t>
            </a:r>
          </a:p>
          <a:p>
            <a:pPr algn="l">
              <a:spcAft>
                <a:spcPts val="800"/>
              </a:spcAft>
            </a:pPr>
            <a:r>
              <a:rPr sz="1800" b="1" i="0">
                <a:solidFill>
                  <a:srgbClr val="E9E7F2"/>
                </a:solidFill>
                <a:latin typeface="Georgia"/>
              </a:rPr>
              <a:t>Release.</a:t>
            </a:r>
          </a:p>
          <a:p>
            <a:pPr algn="l">
              <a:spcAft>
                <a:spcPts val="600"/>
              </a:spcAft>
            </a:pPr>
            <a:r>
              <a:rPr sz="1250" b="0" i="0">
                <a:solidFill>
                  <a:srgbClr val="9A97B0"/>
                </a:solidFill>
                <a:latin typeface="Segoe UI"/>
              </a:rPr>
              <a:t>Threshold tercapai → payout otomatis sesuai hasil.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5532120"/>
            <a:ext cx="10817352" cy="658368"/>
          </a:xfrm>
          <a:prstGeom prst="roundRect">
            <a:avLst>
              <a:gd name="adj" fmla="val 6000"/>
            </a:avLst>
          </a:prstGeom>
          <a:solidFill>
            <a:srgbClr val="121120"/>
          </a:solidFill>
          <a:ln w="12700">
            <a:solidFill>
              <a:srgbClr val="2A27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/>
          <a:lstStyle/>
          <a:p>
            <a:pPr algn="l"/>
            <a:r>
              <a:rPr sz="1500" b="1" i="0">
                <a:solidFill>
                  <a:srgbClr val="E9E7F2"/>
                </a:solidFill>
                <a:latin typeface="Segoe UI"/>
              </a:rPr>
              <a:t>🛡️ Jaring pengaman. </a:t>
            </a:r>
            <a:r>
              <a:rPr sz="1500" b="0" i="0">
                <a:solidFill>
                  <a:srgbClr val="9A97B0"/>
                </a:solidFill>
                <a:latin typeface="Segoe UI"/>
              </a:rPr>
              <a:t>Partner hilang atau witness pasif? Dana tetap bisa ditarik lewat timeout — tidak pernah stuck.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63550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6B6880"/>
                </a:solidFill>
                <a:latin typeface="Consolas"/>
              </a:rPr>
              <a:t>04 / 09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A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A78BFA"/>
                </a:solidFill>
                <a:latin typeface="Consolas"/>
              </a:rPr>
              <a:t>BUSINESS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 i="0">
                <a:solidFill>
                  <a:srgbClr val="E9E7F2"/>
                </a:solidFill>
                <a:latin typeface="Georgia"/>
              </a:rPr>
              <a:t>Fee yang berpihak pada outcome baik.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783080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50" b="0" i="0">
                <a:solidFill>
                  <a:srgbClr val="9A97B0"/>
                </a:solidFill>
                <a:latin typeface="Segoe UI"/>
              </a:rPr>
              <a:t>Semakin baik hasil hubungan, semakin kecil fee. Insentif platform &amp; pasangan searah.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2468880"/>
            <a:ext cx="3465576" cy="2194560"/>
          </a:xfrm>
          <a:prstGeom prst="roundRect">
            <a:avLst>
              <a:gd name="adj" fmla="val 6000"/>
            </a:avLst>
          </a:prstGeom>
          <a:solidFill>
            <a:srgbClr val="161428"/>
          </a:solidFill>
          <a:ln w="12700">
            <a:solidFill>
              <a:srgbClr val="2A27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19456" rIns="228600"/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6EE7B7"/>
                </a:solidFill>
                <a:latin typeface="Consolas"/>
              </a:rPr>
              <a:t>💍  WEDDING UNLOCK</a:t>
            </a:r>
          </a:p>
          <a:p>
            <a:pPr algn="l">
              <a:spcAft>
                <a:spcPts val="200"/>
              </a:spcAft>
            </a:pPr>
            <a:r>
              <a:rPr sz="4000" b="1" i="0">
                <a:solidFill>
                  <a:srgbClr val="F4F2FB"/>
                </a:solidFill>
                <a:latin typeface="Georgia"/>
              </a:rPr>
              <a:t>0.25%</a:t>
            </a:r>
          </a:p>
          <a:p>
            <a:pPr algn="l">
              <a:spcAft>
                <a:spcPts val="800"/>
              </a:spcAft>
            </a:pPr>
            <a:r>
              <a:rPr sz="1300" b="0" i="1">
                <a:solidFill>
                  <a:srgbClr val="6EE7B7"/>
                </a:solidFill>
                <a:latin typeface="Segoe UI"/>
              </a:rPr>
              <a:t>outcome terbaik</a:t>
            </a:r>
          </a:p>
          <a:p>
            <a:pPr algn="l">
              <a:spcAft>
                <a:spcPts val="600"/>
              </a:spcAft>
            </a:pPr>
            <a:r>
              <a:rPr sz="1250" b="0" i="0">
                <a:solidFill>
                  <a:srgbClr val="9A97B0"/>
                </a:solidFill>
                <a:latin typeface="Segoe UI"/>
              </a:rPr>
              <a:t>Berhasil sampai menikah. Fee paling ringan sebagai reward.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70248" y="2468880"/>
            <a:ext cx="3465576" cy="2194560"/>
          </a:xfrm>
          <a:prstGeom prst="roundRect">
            <a:avLst>
              <a:gd name="adj" fmla="val 6000"/>
            </a:avLst>
          </a:prstGeom>
          <a:solidFill>
            <a:srgbClr val="161428"/>
          </a:solidFill>
          <a:ln w="12700">
            <a:solidFill>
              <a:srgbClr val="2A27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19456" rIns="228600"/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B794FF"/>
                </a:solidFill>
                <a:latin typeface="Consolas"/>
              </a:rPr>
              <a:t>🕊️  PEACEFUL EXIT</a:t>
            </a:r>
          </a:p>
          <a:p>
            <a:pPr algn="l">
              <a:spcAft>
                <a:spcPts val="200"/>
              </a:spcAft>
            </a:pPr>
            <a:r>
              <a:rPr sz="4000" b="1" i="0">
                <a:solidFill>
                  <a:srgbClr val="F4F2FB"/>
                </a:solidFill>
                <a:latin typeface="Georgia"/>
              </a:rPr>
              <a:t>0.5%</a:t>
            </a:r>
          </a:p>
          <a:p>
            <a:pPr algn="l">
              <a:spcAft>
                <a:spcPts val="800"/>
              </a:spcAft>
            </a:pPr>
            <a:r>
              <a:rPr sz="1300" b="0" i="1">
                <a:solidFill>
                  <a:srgbClr val="B794FF"/>
                </a:solidFill>
                <a:latin typeface="Segoe UI"/>
              </a:rPr>
              <a:t>sepakat, tanpa drama</a:t>
            </a:r>
          </a:p>
          <a:p>
            <a:pPr algn="l">
              <a:spcAft>
                <a:spcPts val="600"/>
              </a:spcAft>
            </a:pPr>
            <a:r>
              <a:rPr sz="1250" b="0" i="0">
                <a:solidFill>
                  <a:srgbClr val="9A97B0"/>
                </a:solidFill>
                <a:latin typeface="Segoe UI"/>
              </a:rPr>
              <a:t>Kedua pihak setuju mengakhiri baik-baik. Fee netral.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54696" y="2468880"/>
            <a:ext cx="3465576" cy="2194560"/>
          </a:xfrm>
          <a:prstGeom prst="roundRect">
            <a:avLst>
              <a:gd name="adj" fmla="val 6000"/>
            </a:avLst>
          </a:prstGeom>
          <a:solidFill>
            <a:srgbClr val="161428"/>
          </a:solidFill>
          <a:ln w="12700">
            <a:solidFill>
              <a:srgbClr val="2A27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19456" rIns="228600"/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FB7185"/>
                </a:solidFill>
                <a:latin typeface="Consolas"/>
              </a:rPr>
              <a:t>⚠️  BREACH / BREAKUP</a:t>
            </a:r>
          </a:p>
          <a:p>
            <a:pPr algn="l">
              <a:spcAft>
                <a:spcPts val="200"/>
              </a:spcAft>
            </a:pPr>
            <a:r>
              <a:rPr sz="4000" b="1" i="0">
                <a:solidFill>
                  <a:srgbClr val="F4F2FB"/>
                </a:solidFill>
                <a:latin typeface="Georgia"/>
              </a:rPr>
              <a:t>1%</a:t>
            </a:r>
          </a:p>
          <a:p>
            <a:pPr algn="l">
              <a:spcAft>
                <a:spcPts val="800"/>
              </a:spcAft>
            </a:pPr>
            <a:r>
              <a:rPr sz="1300" b="0" i="1">
                <a:solidFill>
                  <a:srgbClr val="FB7185"/>
                </a:solidFill>
                <a:latin typeface="Segoe UI"/>
              </a:rPr>
              <a:t>outcome yang dihindari</a:t>
            </a:r>
          </a:p>
          <a:p>
            <a:pPr algn="l">
              <a:spcAft>
                <a:spcPts val="600"/>
              </a:spcAft>
            </a:pPr>
            <a:r>
              <a:rPr sz="1250" b="0" i="0">
                <a:solidFill>
                  <a:srgbClr val="9A97B0"/>
                </a:solidFill>
                <a:latin typeface="Segoe UI"/>
              </a:rPr>
              <a:t>Pelanggaran komitmen tervalidasi. Fee tertinggi.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5532120"/>
            <a:ext cx="10817352" cy="658368"/>
          </a:xfrm>
          <a:prstGeom prst="roundRect">
            <a:avLst>
              <a:gd name="adj" fmla="val 6000"/>
            </a:avLst>
          </a:prstGeom>
          <a:solidFill>
            <a:srgbClr val="121120"/>
          </a:solidFill>
          <a:ln w="12700">
            <a:solidFill>
              <a:srgbClr val="2A27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/>
          <a:lstStyle/>
          <a:p>
            <a:pPr algn="l"/>
            <a:r>
              <a:rPr sz="1500" b="1" i="0">
                <a:solidFill>
                  <a:srgbClr val="E9E7F2"/>
                </a:solidFill>
                <a:latin typeface="Segoe UI"/>
              </a:rPr>
              <a:t>Go-to-market: </a:t>
            </a:r>
            <a:r>
              <a:rPr sz="1500" b="0" i="0">
                <a:solidFill>
                  <a:srgbClr val="9A97B0"/>
                </a:solidFill>
                <a:latin typeface="Segoe UI"/>
              </a:rPr>
              <a:t>first-100 dari komunitas LDR &amp; couple-content lokal + kolaborasi vendor nikah — target 100 kontrak / 30 hari. </a:t>
            </a:r>
            <a:r>
              <a:rPr sz="1500" b="0" i="1">
                <a:solidFill>
                  <a:srgbClr val="B794FF"/>
                </a:solidFill>
                <a:latin typeface="Segoe UI"/>
              </a:rPr>
              <a:t>Fee = konsekuensi, bukan pajak atas cinta.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63550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6B6880"/>
                </a:solidFill>
                <a:latin typeface="Consolas"/>
              </a:rPr>
              <a:t>05 / 09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A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A78BFA"/>
                </a:solidFill>
                <a:latin typeface="Consolas"/>
              </a:rPr>
              <a:t>WHY BLOCKCHAIN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 i="0">
                <a:solidFill>
                  <a:srgbClr val="E9E7F2"/>
                </a:solidFill>
                <a:latin typeface="Georgia"/>
              </a:rPr>
              <a:t>Kenapa on-chain, bukan aplikasi biasa?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286000"/>
            <a:ext cx="3465576" cy="3291840"/>
          </a:xfrm>
          <a:prstGeom prst="roundRect">
            <a:avLst>
              <a:gd name="adj" fmla="val 6000"/>
            </a:avLst>
          </a:prstGeom>
          <a:solidFill>
            <a:srgbClr val="161428"/>
          </a:solidFill>
          <a:ln w="12700">
            <a:solidFill>
              <a:srgbClr val="2A27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tIns="274320" rIns="228600"/>
          <a:lstStyle/>
          <a:p>
            <a:pPr algn="l">
              <a:spcAft>
                <a:spcPts val="800"/>
              </a:spcAft>
            </a:pPr>
            <a:r>
              <a:rPr sz="1200" b="1" i="0">
                <a:solidFill>
                  <a:srgbClr val="B794FF"/>
                </a:solidFill>
                <a:latin typeface="Consolas"/>
              </a:rPr>
              <a:t>TRANSPARANSI</a:t>
            </a:r>
          </a:p>
          <a:p>
            <a:pPr algn="l">
              <a:spcAft>
                <a:spcPts val="400"/>
              </a:spcAft>
            </a:pPr>
            <a:r>
              <a:rPr sz="4600" b="1" i="0">
                <a:solidFill>
                  <a:srgbClr val="F4F2FB"/>
                </a:solidFill>
                <a:latin typeface="Georgia"/>
              </a:rPr>
              <a:t>100%</a:t>
            </a:r>
          </a:p>
          <a:p>
            <a:pPr algn="l">
              <a:spcAft>
                <a:spcPts val="1200"/>
              </a:spcAft>
            </a:pPr>
            <a:r>
              <a:rPr sz="1300" b="0" i="0">
                <a:solidFill>
                  <a:srgbClr val="9A97B0"/>
                </a:solidFill>
                <a:latin typeface="Segoe UI"/>
              </a:rPr>
              <a:t>dana terkunci &amp; terlihat</a:t>
            </a:r>
          </a:p>
          <a:p>
            <a:pPr>
              <a:spcAft>
                <a:spcPts val="600"/>
              </a:spcAft>
            </a:pPr>
            <a:r>
              <a:rPr sz="1300" b="0" i="0">
                <a:solidFill>
                  <a:srgbClr val="B794FF"/>
                </a:solidFill>
                <a:latin typeface="Segoe UI"/>
              </a:rPr>
              <a:t>•  </a:t>
            </a:r>
            <a:r>
              <a:rPr sz="1250" b="0" i="0">
                <a:solidFill>
                  <a:srgbClr val="9A97B0"/>
                </a:solidFill>
                <a:latin typeface="Segoe UI"/>
              </a:rPr>
              <a:t>Tidak bisa ditarik sepihak</a:t>
            </a:r>
          </a:p>
          <a:p>
            <a:pPr>
              <a:spcAft>
                <a:spcPts val="600"/>
              </a:spcAft>
            </a:pPr>
            <a:r>
              <a:rPr sz="1300" b="0" i="0">
                <a:solidFill>
                  <a:srgbClr val="B794FF"/>
                </a:solidFill>
                <a:latin typeface="Segoe UI"/>
              </a:rPr>
              <a:t>•  </a:t>
            </a:r>
            <a:r>
              <a:rPr sz="1250" b="0" i="0">
                <a:solidFill>
                  <a:srgbClr val="9A97B0"/>
                </a:solidFill>
                <a:latin typeface="Segoe UI"/>
              </a:rPr>
              <a:t>Saldo &amp; aturan publik, auditable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70248" y="2286000"/>
            <a:ext cx="3465576" cy="3291840"/>
          </a:xfrm>
          <a:prstGeom prst="roundRect">
            <a:avLst>
              <a:gd name="adj" fmla="val 6000"/>
            </a:avLst>
          </a:prstGeom>
          <a:solidFill>
            <a:srgbClr val="161428"/>
          </a:solidFill>
          <a:ln w="12700">
            <a:solidFill>
              <a:srgbClr val="2A27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tIns="274320" rIns="228600"/>
          <a:lstStyle/>
          <a:p>
            <a:pPr algn="l">
              <a:spcAft>
                <a:spcPts val="800"/>
              </a:spcAft>
            </a:pPr>
            <a:r>
              <a:rPr sz="1200" b="1" i="0">
                <a:solidFill>
                  <a:srgbClr val="6EE7B7"/>
                </a:solidFill>
                <a:latin typeface="Consolas"/>
              </a:rPr>
              <a:t>ATURAN PAYOUT</a:t>
            </a:r>
          </a:p>
          <a:p>
            <a:pPr algn="l">
              <a:spcAft>
                <a:spcPts val="400"/>
              </a:spcAft>
            </a:pPr>
            <a:r>
              <a:rPr sz="4600" b="1" i="0">
                <a:solidFill>
                  <a:srgbClr val="F4F2FB"/>
                </a:solidFill>
                <a:latin typeface="Georgia"/>
              </a:rPr>
              <a:t>0</a:t>
            </a:r>
          </a:p>
          <a:p>
            <a:pPr algn="l">
              <a:spcAft>
                <a:spcPts val="1200"/>
              </a:spcAft>
            </a:pPr>
            <a:r>
              <a:rPr sz="1300" b="0" i="0">
                <a:solidFill>
                  <a:srgbClr val="9A97B0"/>
                </a:solidFill>
                <a:latin typeface="Segoe UI"/>
              </a:rPr>
              <a:t>pihak yang bisa memanipulasi</a:t>
            </a:r>
          </a:p>
          <a:p>
            <a:pPr>
              <a:spcAft>
                <a:spcPts val="600"/>
              </a:spcAft>
            </a:pPr>
            <a:r>
              <a:rPr sz="1300" b="0" i="0">
                <a:solidFill>
                  <a:srgbClr val="B794FF"/>
                </a:solidFill>
                <a:latin typeface="Segoe UI"/>
              </a:rPr>
              <a:t>•  </a:t>
            </a:r>
            <a:r>
              <a:rPr sz="1250" b="0" i="0">
                <a:solidFill>
                  <a:srgbClr val="9A97B0"/>
                </a:solidFill>
                <a:latin typeface="Segoe UI"/>
              </a:rPr>
              <a:t>Payout dijalankan kode, bukan orang</a:t>
            </a:r>
          </a:p>
          <a:p>
            <a:pPr>
              <a:spcAft>
                <a:spcPts val="600"/>
              </a:spcAft>
            </a:pPr>
            <a:r>
              <a:rPr sz="1300" b="0" i="0">
                <a:solidFill>
                  <a:srgbClr val="B794FF"/>
                </a:solidFill>
                <a:latin typeface="Segoe UI"/>
              </a:rPr>
              <a:t>•  </a:t>
            </a:r>
            <a:r>
              <a:rPr sz="1250" b="0" i="0">
                <a:solidFill>
                  <a:srgbClr val="9A97B0"/>
                </a:solidFill>
                <a:latin typeface="Segoe UI"/>
              </a:rPr>
              <a:t>Hasil vote tercatat permanen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854696" y="2286000"/>
            <a:ext cx="3465576" cy="3291840"/>
          </a:xfrm>
          <a:prstGeom prst="roundRect">
            <a:avLst>
              <a:gd name="adj" fmla="val 6000"/>
            </a:avLst>
          </a:prstGeom>
          <a:solidFill>
            <a:srgbClr val="161428"/>
          </a:solidFill>
          <a:ln w="12700">
            <a:solidFill>
              <a:srgbClr val="2A27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tIns="274320" rIns="228600"/>
          <a:lstStyle/>
          <a:p>
            <a:pPr algn="l">
              <a:spcAft>
                <a:spcPts val="800"/>
              </a:spcAft>
            </a:pPr>
            <a:r>
              <a:rPr sz="1200" b="1" i="0">
                <a:solidFill>
                  <a:srgbClr val="B794FF"/>
                </a:solidFill>
                <a:latin typeface="Consolas"/>
              </a:rPr>
              <a:t>JEJAK AKSI</a:t>
            </a:r>
          </a:p>
          <a:p>
            <a:pPr algn="l">
              <a:spcAft>
                <a:spcPts val="400"/>
              </a:spcAft>
            </a:pPr>
            <a:r>
              <a:rPr sz="4600" b="1" i="0">
                <a:solidFill>
                  <a:srgbClr val="F4F2FB"/>
                </a:solidFill>
                <a:latin typeface="Georgia"/>
              </a:rPr>
              <a:t>∞</a:t>
            </a:r>
          </a:p>
          <a:p>
            <a:pPr algn="l">
              <a:spcAft>
                <a:spcPts val="1200"/>
              </a:spcAft>
            </a:pPr>
            <a:r>
              <a:rPr sz="1300" b="0" i="0">
                <a:solidFill>
                  <a:srgbClr val="9A97B0"/>
                </a:solidFill>
                <a:latin typeface="Segoe UI"/>
              </a:rPr>
              <a:t>riwayat tersimpan on-chain</a:t>
            </a:r>
          </a:p>
          <a:p>
            <a:pPr>
              <a:spcAft>
                <a:spcPts val="600"/>
              </a:spcAft>
            </a:pPr>
            <a:r>
              <a:rPr sz="1300" b="0" i="0">
                <a:solidFill>
                  <a:srgbClr val="B794FF"/>
                </a:solidFill>
                <a:latin typeface="Segoe UI"/>
              </a:rPr>
              <a:t>•  </a:t>
            </a:r>
            <a:r>
              <a:rPr sz="1250" b="0" i="0">
                <a:solidFill>
                  <a:srgbClr val="9A97B0"/>
                </a:solidFill>
                <a:latin typeface="Segoe UI"/>
              </a:rPr>
              <a:t>Setiap aksi punya timestamp</a:t>
            </a:r>
          </a:p>
          <a:p>
            <a:pPr>
              <a:spcAft>
                <a:spcPts val="600"/>
              </a:spcAft>
            </a:pPr>
            <a:r>
              <a:rPr sz="1300" b="0" i="0">
                <a:solidFill>
                  <a:srgbClr val="B794FF"/>
                </a:solidFill>
                <a:latin typeface="Segoe UI"/>
              </a:rPr>
              <a:t>•  </a:t>
            </a:r>
            <a:r>
              <a:rPr sz="1250" b="0" i="0">
                <a:solidFill>
                  <a:srgbClr val="9A97B0"/>
                </a:solidFill>
                <a:latin typeface="Segoe UI"/>
              </a:rPr>
              <a:t>Dispute terbuka &amp; bisa diaudit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63550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6B6880"/>
                </a:solidFill>
                <a:latin typeface="Consolas"/>
              </a:rPr>
              <a:t>06 / 09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A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A78BFA"/>
                </a:solidFill>
                <a:latin typeface="Consolas"/>
              </a:rPr>
              <a:t>DEMO SCENARIOS — JALANKAN LIVE DI APP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 i="0">
                <a:solidFill>
                  <a:srgbClr val="E9E7F2"/>
                </a:solidFill>
                <a:latin typeface="Georgia"/>
              </a:rPr>
              <a:t>Tiga jalur, end-to-end.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148840"/>
            <a:ext cx="10817352" cy="1280160"/>
          </a:xfrm>
          <a:prstGeom prst="roundRect">
            <a:avLst>
              <a:gd name="adj" fmla="val 6000"/>
            </a:avLst>
          </a:prstGeom>
          <a:solidFill>
            <a:srgbClr val="161428"/>
          </a:solidFill>
          <a:ln w="12700">
            <a:solidFill>
              <a:srgbClr val="2A27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0" tIns="182880" rIns="320040"/>
          <a:lstStyle/>
          <a:p>
            <a:pPr algn="ctr"/>
            <a:r>
              <a:rPr sz="1900" b="1" i="0">
                <a:solidFill>
                  <a:srgbClr val="E9E7F2"/>
                </a:solidFill>
                <a:latin typeface="Georgia"/>
              </a:rPr>
              <a:t>Wedding Unlock   </a:t>
            </a:r>
            <a:r>
              <a:rPr sz="1350" b="0" i="0">
                <a:solidFill>
                  <a:srgbClr val="9A97B0"/>
                </a:solidFill>
                <a:latin typeface="Segoe UI"/>
              </a:rPr>
              <a:t>Buat kontrak → deposit → ajukan bukti nikah → partner konfirmasi → 3/5 witness approve → dana kembali + wedding badge.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56032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600" b="0" i="0">
                <a:solidFill>
                  <a:srgbClr val="E9E7F2"/>
                </a:solidFill>
                <a:latin typeface="Segoe UI"/>
              </a:rPr>
              <a:t>💍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3566160"/>
            <a:ext cx="10817352" cy="1280160"/>
          </a:xfrm>
          <a:prstGeom prst="roundRect">
            <a:avLst>
              <a:gd name="adj" fmla="val 6000"/>
            </a:avLst>
          </a:prstGeom>
          <a:solidFill>
            <a:srgbClr val="161428"/>
          </a:solidFill>
          <a:ln w="12700">
            <a:solidFill>
              <a:srgbClr val="2A27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0" tIns="182880" rIns="320040"/>
          <a:lstStyle/>
          <a:p>
            <a:pPr algn="ctr"/>
            <a:r>
              <a:rPr sz="1900" b="1" i="0">
                <a:solidFill>
                  <a:srgbClr val="E9E7F2"/>
                </a:solidFill>
                <a:latin typeface="Georgia"/>
              </a:rPr>
              <a:t>Peaceful Exit   </a:t>
            </a:r>
            <a:r>
              <a:rPr sz="1350" b="0" i="0">
                <a:solidFill>
                  <a:srgbClr val="9A97B0"/>
                </a:solidFill>
                <a:latin typeface="Segoe UI"/>
              </a:rPr>
              <a:t>Request breakup → partner approve → cooling period lewat tanpa dispute → deposit kembali 50:50.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97764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600" b="0" i="0">
                <a:solidFill>
                  <a:srgbClr val="E9E7F2"/>
                </a:solidFill>
                <a:latin typeface="Segoe UI"/>
              </a:rPr>
              <a:t>🕊️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4983480"/>
            <a:ext cx="10817352" cy="1280160"/>
          </a:xfrm>
          <a:prstGeom prst="roundRect">
            <a:avLst>
              <a:gd name="adj" fmla="val 6000"/>
            </a:avLst>
          </a:prstGeom>
          <a:solidFill>
            <a:srgbClr val="161428"/>
          </a:solidFill>
          <a:ln w="12700">
            <a:solidFill>
              <a:srgbClr val="2A27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0" tIns="182880" rIns="320040"/>
          <a:lstStyle/>
          <a:p>
            <a:pPr algn="ctr"/>
            <a:r>
              <a:rPr sz="1900" b="1" i="0">
                <a:solidFill>
                  <a:srgbClr val="E9E7F2"/>
                </a:solidFill>
                <a:latin typeface="Georgia"/>
              </a:rPr>
              <a:t>Breach Resolution   </a:t>
            </a:r>
            <a:r>
              <a:rPr sz="1350" b="0" i="0">
                <a:solidFill>
                  <a:srgbClr val="9A97B0"/>
                </a:solidFill>
                <a:latin typeface="Segoe UI"/>
              </a:rPr>
              <a:t>Ajukan klaim + challenge bond + bukti → partner challenge → 4/5 witness vote → dana pihak melanggar dialihkan.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539496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600" b="0" i="0">
                <a:solidFill>
                  <a:srgbClr val="E9E7F2"/>
                </a:solidFill>
                <a:latin typeface="Segoe UI"/>
              </a:rPr>
              <a:t>⚠️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63550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6B6880"/>
                </a:solidFill>
                <a:latin typeface="Consolas"/>
              </a:rPr>
              <a:t>07 / 09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A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A78BFA"/>
                </a:solidFill>
                <a:latin typeface="Consolas"/>
              </a:rPr>
              <a:t>WHAT'S NEXT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 i="0">
                <a:solidFill>
                  <a:srgbClr val="E9E7F2"/>
                </a:solidFill>
                <a:latin typeface="Georgia"/>
              </a:rPr>
              <a:t>Dari MVP ke platform.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2514600"/>
            <a:ext cx="10332720" cy="25400"/>
          </a:xfrm>
          <a:prstGeom prst="rect">
            <a:avLst/>
          </a:prstGeom>
          <a:solidFill>
            <a:srgbClr val="3A2F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280160" y="2395728"/>
            <a:ext cx="201168" cy="201168"/>
          </a:xfrm>
          <a:prstGeom prst="ellipse">
            <a:avLst/>
          </a:prstGeom>
          <a:solidFill>
            <a:srgbClr val="6EE7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3794760" y="2395728"/>
            <a:ext cx="201168" cy="201168"/>
          </a:xfrm>
          <a:prstGeom prst="ellipse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309360" y="2395728"/>
            <a:ext cx="201168" cy="201168"/>
          </a:xfrm>
          <a:prstGeom prst="ellipse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823960" y="2395728"/>
            <a:ext cx="201168" cy="201168"/>
          </a:xfrm>
          <a:prstGeom prst="ellipse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85800" y="2926080"/>
            <a:ext cx="2615184" cy="2286000"/>
          </a:xfrm>
          <a:prstGeom prst="roundRect">
            <a:avLst>
              <a:gd name="adj" fmla="val 6000"/>
            </a:avLst>
          </a:prstGeom>
          <a:solidFill>
            <a:srgbClr val="10221E"/>
          </a:solidFill>
          <a:ln w="12700">
            <a:solidFill>
              <a:srgbClr val="2C5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9456" tIns="256032" rIns="201168"/>
          <a:lstStyle/>
          <a:p>
            <a:pPr algn="l">
              <a:spcAft>
                <a:spcPts val="1000"/>
              </a:spcAft>
            </a:pPr>
            <a:r>
              <a:rPr sz="1200" b="1" i="0">
                <a:solidFill>
                  <a:srgbClr val="6EE7B7"/>
                </a:solidFill>
                <a:latin typeface="Consolas"/>
              </a:rPr>
              <a:t>MVP · NOW</a:t>
            </a:r>
          </a:p>
          <a:p>
            <a:pPr algn="l">
              <a:spcAft>
                <a:spcPts val="800"/>
              </a:spcAft>
            </a:pPr>
            <a:r>
              <a:rPr sz="1800" b="1" i="0">
                <a:solidFill>
                  <a:srgbClr val="E9E7F2"/>
                </a:solidFill>
                <a:latin typeface="Georgia"/>
              </a:rPr>
              <a:t>Testnet demo</a:t>
            </a:r>
          </a:p>
          <a:p>
            <a:pPr algn="l">
              <a:spcAft>
                <a:spcPts val="600"/>
              </a:spcAft>
            </a:pPr>
            <a:r>
              <a:rPr sz="1250" b="0" i="0">
                <a:solidFill>
                  <a:srgbClr val="9A97B0"/>
                </a:solidFill>
                <a:latin typeface="Segoe UI"/>
              </a:rPr>
              <a:t>3 flow inti, witness voting, payout otomatis, tiered fee, timeout.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19856" y="2926080"/>
            <a:ext cx="2615184" cy="2286000"/>
          </a:xfrm>
          <a:prstGeom prst="roundRect">
            <a:avLst>
              <a:gd name="adj" fmla="val 6000"/>
            </a:avLst>
          </a:prstGeom>
          <a:solidFill>
            <a:srgbClr val="161428"/>
          </a:solidFill>
          <a:ln w="12700">
            <a:solidFill>
              <a:srgbClr val="2A27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9456" tIns="256032" rIns="201168"/>
          <a:lstStyle/>
          <a:p>
            <a:pPr algn="l">
              <a:spcAft>
                <a:spcPts val="1000"/>
              </a:spcAft>
            </a:pPr>
            <a:r>
              <a:rPr sz="1200" b="1" i="0">
                <a:solidFill>
                  <a:srgbClr val="B794FF"/>
                </a:solidFill>
                <a:latin typeface="Consolas"/>
              </a:rPr>
              <a:t>NEXT</a:t>
            </a:r>
          </a:p>
          <a:p>
            <a:pPr algn="l">
              <a:spcAft>
                <a:spcPts val="800"/>
              </a:spcAft>
            </a:pPr>
            <a:r>
              <a:rPr sz="1800" b="1" i="0">
                <a:solidFill>
                  <a:srgbClr val="E9E7F2"/>
                </a:solidFill>
                <a:latin typeface="Georgia"/>
              </a:rPr>
              <a:t>Witness reputation</a:t>
            </a:r>
          </a:p>
          <a:p>
            <a:pPr algn="l">
              <a:spcAft>
                <a:spcPts val="600"/>
              </a:spcAft>
            </a:pPr>
            <a:r>
              <a:rPr sz="1250" b="0" i="0">
                <a:solidFill>
                  <a:srgbClr val="9A97B0"/>
                </a:solidFill>
                <a:latin typeface="Segoe UI"/>
              </a:rPr>
              <a:t>Skor &amp; staking untuk akuntabilitas saksi.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53912" y="2926080"/>
            <a:ext cx="2615184" cy="2286000"/>
          </a:xfrm>
          <a:prstGeom prst="roundRect">
            <a:avLst>
              <a:gd name="adj" fmla="val 6000"/>
            </a:avLst>
          </a:prstGeom>
          <a:solidFill>
            <a:srgbClr val="161428"/>
          </a:solidFill>
          <a:ln w="12700">
            <a:solidFill>
              <a:srgbClr val="2A27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9456" tIns="256032" rIns="201168"/>
          <a:lstStyle/>
          <a:p>
            <a:pPr algn="l">
              <a:spcAft>
                <a:spcPts val="1000"/>
              </a:spcAft>
            </a:pPr>
            <a:r>
              <a:rPr sz="1200" b="1" i="0">
                <a:solidFill>
                  <a:srgbClr val="B794FF"/>
                </a:solidFill>
                <a:latin typeface="Consolas"/>
              </a:rPr>
              <a:t>LATER</a:t>
            </a:r>
          </a:p>
          <a:p>
            <a:pPr algn="l">
              <a:spcAft>
                <a:spcPts val="800"/>
              </a:spcAft>
            </a:pPr>
            <a:r>
              <a:rPr sz="1800" b="1" i="0">
                <a:solidFill>
                  <a:srgbClr val="E9E7F2"/>
                </a:solidFill>
                <a:latin typeface="Georgia"/>
              </a:rPr>
              <a:t>Asymmetric &amp; NFT</a:t>
            </a:r>
          </a:p>
          <a:p>
            <a:pPr algn="l">
              <a:spcAft>
                <a:spcPts val="600"/>
              </a:spcAft>
            </a:pPr>
            <a:r>
              <a:rPr sz="1250" b="0" i="0">
                <a:solidFill>
                  <a:srgbClr val="9A97B0"/>
                </a:solidFill>
                <a:latin typeface="Segoe UI"/>
              </a:rPr>
              <a:t>Deposit tak simetris + wedding NFT on-chain.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887967" y="2926080"/>
            <a:ext cx="2615184" cy="2286000"/>
          </a:xfrm>
          <a:prstGeom prst="roundRect">
            <a:avLst>
              <a:gd name="adj" fmla="val 6000"/>
            </a:avLst>
          </a:prstGeom>
          <a:solidFill>
            <a:srgbClr val="161428"/>
          </a:solidFill>
          <a:ln w="12700">
            <a:solidFill>
              <a:srgbClr val="2A27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9456" tIns="256032" rIns="201168"/>
          <a:lstStyle/>
          <a:p>
            <a:pPr algn="l">
              <a:spcAft>
                <a:spcPts val="1000"/>
              </a:spcAft>
            </a:pPr>
            <a:r>
              <a:rPr sz="1200" b="1" i="0">
                <a:solidFill>
                  <a:srgbClr val="B794FF"/>
                </a:solidFill>
                <a:latin typeface="Consolas"/>
              </a:rPr>
              <a:t>FUTURE</a:t>
            </a:r>
          </a:p>
          <a:p>
            <a:pPr algn="l">
              <a:spcAft>
                <a:spcPts val="800"/>
              </a:spcAft>
            </a:pPr>
            <a:r>
              <a:rPr sz="1800" b="1" i="0">
                <a:solidFill>
                  <a:srgbClr val="E9E7F2"/>
                </a:solidFill>
                <a:latin typeface="Georgia"/>
              </a:rPr>
              <a:t>Mainnet + real asset</a:t>
            </a:r>
          </a:p>
          <a:p>
            <a:pPr algn="l">
              <a:spcAft>
                <a:spcPts val="600"/>
              </a:spcAft>
            </a:pPr>
            <a:r>
              <a:rPr sz="1250" b="0" i="0">
                <a:solidFill>
                  <a:srgbClr val="9A97B0"/>
                </a:solidFill>
                <a:latin typeface="Segoe UI"/>
              </a:rPr>
              <a:t>Wrapper Web2, fiat ramp, arbitrase opsional.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5532120"/>
            <a:ext cx="103601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0" i="1">
                <a:solidFill>
                  <a:srgbClr val="B794FF"/>
                </a:solidFill>
                <a:latin typeface="Segoe UI"/>
              </a:rPr>
              <a:t>Stake your love, prove your commitment.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63550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6B6880"/>
                </a:solidFill>
                <a:latin typeface="Consolas"/>
              </a:rPr>
              <a:t>08 / 09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A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195560" y="457200"/>
            <a:ext cx="1417320" cy="384048"/>
          </a:xfrm>
          <a:prstGeom prst="roundRect">
            <a:avLst>
              <a:gd name="adj" fmla="val 50000"/>
            </a:avLst>
          </a:prstGeom>
          <a:solidFill>
            <a:srgbClr val="161428"/>
          </a:solidFill>
          <a:ln w="12700">
            <a:solidFill>
              <a:srgbClr val="5EEA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 i="0">
                <a:solidFill>
                  <a:srgbClr val="5EEAD4"/>
                </a:solidFill>
                <a:latin typeface="Consolas"/>
              </a:rPr>
              <a:t>● TESTNET</a:t>
            </a:r>
          </a:p>
        </p:txBody>
      </p:sp>
      <p:sp>
        <p:nvSpPr>
          <p:cNvPr id="4" name="Oval 3"/>
          <p:cNvSpPr/>
          <p:nvPr/>
        </p:nvSpPr>
        <p:spPr>
          <a:xfrm>
            <a:off x="5641848" y="1188720"/>
            <a:ext cx="914400" cy="914400"/>
          </a:xfrm>
          <a:prstGeom prst="ellipse">
            <a:avLst/>
          </a:prstGeom>
          <a:solidFill>
            <a:srgbClr val="12111F"/>
          </a:solidFill>
          <a:ln w="12700">
            <a:solidFill>
              <a:srgbClr val="5EEA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800" b="0" i="0">
                <a:solidFill>
                  <a:srgbClr val="F4F2FB"/>
                </a:solidFill>
                <a:latin typeface="Segoe UI"/>
              </a:rPr>
              <a:t>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286000"/>
            <a:ext cx="10360152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1" i="0">
                <a:solidFill>
                  <a:srgbClr val="F4F2FB"/>
                </a:solidFill>
                <a:latin typeface="Georgia"/>
              </a:rPr>
              <a:t>LOVE</a:t>
            </a:r>
            <a:r>
              <a:rPr sz="6000" b="1" i="0">
                <a:solidFill>
                  <a:srgbClr val="B794FF"/>
                </a:solidFill>
                <a:latin typeface="Georgia"/>
              </a:rPr>
              <a:t>CHAIN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429000"/>
            <a:ext cx="103601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000" b="0" i="1">
                <a:solidFill>
                  <a:srgbClr val="CBC8DD"/>
                </a:solidFill>
                <a:latin typeface="Georgia"/>
              </a:rPr>
              <a:t>Don't just say forever. Stake it on-chain.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514600" y="4160520"/>
            <a:ext cx="7159752" cy="914400"/>
          </a:xfrm>
          <a:prstGeom prst="roundRect">
            <a:avLst>
              <a:gd name="adj" fmla="val 6000"/>
            </a:avLst>
          </a:prstGeom>
          <a:solidFill>
            <a:srgbClr val="10221E"/>
          </a:solidFill>
          <a:ln w="12700">
            <a:solidFill>
              <a:srgbClr val="2C5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320040"/>
          <a:lstStyle/>
          <a:p>
            <a:pPr algn="ctr"/>
            <a:r>
              <a:rPr sz="1450" b="1" i="0">
                <a:solidFill>
                  <a:srgbClr val="EAFFF6"/>
                </a:solidFill>
                <a:latin typeface="Segoe UI"/>
              </a:rPr>
              <a:t>Satu permintaan: </a:t>
            </a:r>
            <a:r>
              <a:rPr sz="1450" b="0" i="0">
                <a:solidFill>
                  <a:srgbClr val="D7FFF6"/>
                </a:solidFill>
                <a:latin typeface="Segoe UI"/>
              </a:rPr>
              <a:t>coba app-nya di OP Sepolia &amp; beri tahu kami bagian yang membingungkan — feedback UX kalian memandu iterasi kami.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108960" y="5349240"/>
            <a:ext cx="5971032" cy="548640"/>
          </a:xfrm>
          <a:prstGeom prst="roundRect">
            <a:avLst>
              <a:gd name="adj" fmla="val 6000"/>
            </a:avLst>
          </a:prstGeom>
          <a:solidFill>
            <a:srgbClr val="161428"/>
          </a:solidFill>
          <a:ln w="12700">
            <a:solidFill>
              <a:srgbClr val="2A27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0" i="0">
                <a:solidFill>
                  <a:srgbClr val="B9B6CC"/>
                </a:solidFill>
                <a:latin typeface="Consolas"/>
              </a:rPr>
              <a:t>github.com/anwark7/lovechain  ·  lovechain.vercel.app  ·  </a:t>
            </a:r>
            <a:r>
              <a:rPr sz="1200" b="0" i="0">
                <a:solidFill>
                  <a:srgbClr val="6EE7B7"/>
                </a:solidFill>
                <a:latin typeface="Consolas"/>
              </a:rPr>
              <a:t>OP Sepolia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63550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6B6880"/>
                </a:solidFill>
                <a:latin typeface="Consolas"/>
              </a:rPr>
              <a:t>09 / 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